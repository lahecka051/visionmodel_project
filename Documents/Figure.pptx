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82" r:id="rId3"/>
    <p:sldId id="28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3AF"/>
    <a:srgbClr val="93C5FD"/>
    <a:srgbClr val="34D399"/>
    <a:srgbClr val="FFFFFF"/>
    <a:srgbClr val="EA580C"/>
    <a:srgbClr val="F4AB85"/>
    <a:srgbClr val="6B7280"/>
    <a:srgbClr val="C0C0C0"/>
    <a:srgbClr val="FFFDE7"/>
    <a:srgbClr val="00B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4981" autoAdjust="0"/>
  </p:normalViewPr>
  <p:slideViewPr>
    <p:cSldViewPr snapToGrid="0">
      <p:cViewPr varScale="1">
        <p:scale>
          <a:sx n="94" d="100"/>
          <a:sy n="94" d="100"/>
        </p:scale>
        <p:origin x="10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9E92B-4095-4B0C-A821-59B0FF526AA1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419A5-BFFA-42DC-B1DC-8C288A36A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00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E839-6D93-F0D3-0E82-7FD55C823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0D322-86FC-D39B-66EE-340A0656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0A833-6310-5E6D-9B61-87394ED0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51E6-D463-932F-92C3-851D5EAB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D5D0-4403-847A-14E5-C108D23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2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24E7-61B1-9324-6AED-82E1E761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73B9-C108-7AB4-9AE5-071AEA8FC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DF96-F081-BCA8-E284-2EE5CDEE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FF71-25C5-4F23-06D2-F8F43610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6F9B-6419-1E4D-72A3-D77147FF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1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1C4E-9E4D-D0A4-EFCB-CF220CB5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D4E69-59CA-977A-D4BF-4D803A9F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DCBB-2195-4397-C75A-6F3E82BD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E7DE-3F9F-D3FD-1981-FB558504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4B41-7391-9D30-D93D-92B2CA36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5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C9A2-AABE-545B-9EF4-5596E481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FFEB-54BE-F6C4-6D46-73881A506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44F5C-99EB-4709-9A38-CEAFBC23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6C8C-F1E8-040B-26E9-69966C70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B9ACA-62F4-E12F-83B1-CC0B66BC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C990B-6CA0-6A1F-1136-40E53D7F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4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3922-3159-756F-77B5-4C89DF4A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777DD-36E2-C333-287B-C81778585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7B8D0-70C4-B5BA-9076-3541D649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BDED5-99F1-57B4-93C2-DFFF51DE6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15B4B-8679-45C3-27ED-30B132210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DDDC4-572B-88EF-A197-CAFFB382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12F-3CB8-4E3F-6C4C-D5784BC7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4D333-4863-48C4-F733-3FEE64B2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3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C606-6818-9E5E-B241-819FCAB5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BFCCF-F031-5D67-BF8B-C8DFC10C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FFA5A-D739-336E-DA35-AA0FA923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F2698-8F83-5D26-3FB3-0853940F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88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1EE69-0A7F-E0B2-0D94-F12A3743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F3E0-95EF-96E2-F6D0-3D359D6A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B434-C454-F366-AD30-CA89865A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34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4AFE-5F51-D829-D098-426218FC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C58A-E4CD-EE9E-72BE-07D3DF0B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2A030-1113-31BF-AE38-960FB1735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41E6E-8F85-D056-1539-FBC0E952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29FF-0779-DCA4-C592-6A4F080F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8372-084F-B281-18FC-0D84E0F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7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268A-D2FC-F9AB-08AF-D7420CA1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A924D-5B4C-9424-9C5F-240895F9D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A9C81-352C-51BF-3DAE-2211FF56A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AD5CE-0722-F483-FE6E-9869A53B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B8210-5107-80D7-30A7-A71300CA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D05F1-DF69-E8BF-7AD9-D78F8D89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9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24D2-4EE8-1F59-12FD-A86ACB9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E165C-35C8-2889-7807-3BE47F17E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53DF-7416-90DC-758E-62D71AF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A46A-731A-75CD-B050-51EFCA9A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6B91-244B-16D8-6E95-6E6FEB0A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8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52892-B8FC-F88E-381F-47F3ED5F5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37F12-4386-6C7D-D6CB-E7636A970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AB8E-A10F-10E1-E8E4-64B9B815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A8D3-D1CA-9826-3865-D73E0030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4E6B-EAC9-CF30-D269-E3553D45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9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E839-6D93-F0D3-0E82-7FD55C823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0D322-86FC-D39B-66EE-340A0656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0A833-6310-5E6D-9B61-87394ED0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51E6-D463-932F-92C3-851D5EAB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D5D0-4403-847A-14E5-C108D23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20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24E7-61B1-9324-6AED-82E1E761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73B9-C108-7AB4-9AE5-071AEA8FC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DF96-F081-BCA8-E284-2EE5CDEE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FF71-25C5-4F23-06D2-F8F43610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6F9B-6419-1E4D-72A3-D77147FF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1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1C4E-9E4D-D0A4-EFCB-CF220CB5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D4E69-59CA-977A-D4BF-4D803A9F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DCBB-2195-4397-C75A-6F3E82BD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E7DE-3F9F-D3FD-1981-FB558504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4B41-7391-9D30-D93D-92B2CA36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52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C9A2-AABE-545B-9EF4-5596E481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FFEB-54BE-F6C4-6D46-73881A506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44F5C-99EB-4709-9A38-CEAFBC23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6C8C-F1E8-040B-26E9-69966C70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B9ACA-62F4-E12F-83B1-CC0B66BC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C990B-6CA0-6A1F-1136-40E53D7F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45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3922-3159-756F-77B5-4C89DF4A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777DD-36E2-C333-287B-C81778585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7B8D0-70C4-B5BA-9076-3541D649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BDED5-99F1-57B4-93C2-DFFF51DE6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15B4B-8679-45C3-27ED-30B132210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DDDC4-572B-88EF-A197-CAFFB382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12F-3CB8-4E3F-6C4C-D5784BC7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4D333-4863-48C4-F733-3FEE64B2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34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C606-6818-9E5E-B241-819FCAB5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BFCCF-F031-5D67-BF8B-C8DFC10C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FFA5A-D739-336E-DA35-AA0FA923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F2698-8F83-5D26-3FB3-0853940F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882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1EE69-0A7F-E0B2-0D94-F12A3743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F3E0-95EF-96E2-F6D0-3D359D6A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B434-C454-F366-AD30-CA89865A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3472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4AFE-5F51-D829-D098-426218FC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C58A-E4CD-EE9E-72BE-07D3DF0B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2A030-1113-31BF-AE38-960FB1735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41E6E-8F85-D056-1539-FBC0E952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29FF-0779-DCA4-C592-6A4F080F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8372-084F-B281-18FC-0D84E0F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73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268A-D2FC-F9AB-08AF-D7420CA1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A924D-5B4C-9424-9C5F-240895F9D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A9C81-352C-51BF-3DAE-2211FF56A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AD5CE-0722-F483-FE6E-9869A53B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B8210-5107-80D7-30A7-A71300CA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D05F1-DF69-E8BF-7AD9-D78F8D89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99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24D2-4EE8-1F59-12FD-A86ACB9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E165C-35C8-2889-7807-3BE47F17E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53DF-7416-90DC-758E-62D71AF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A46A-731A-75CD-B050-51EFCA9A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6B91-244B-16D8-6E95-6E6FEB0A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86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52892-B8FC-F88E-381F-47F3ED5F5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37F12-4386-6C7D-D6CB-E7636A970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AB8E-A10F-10E1-E8E4-64B9B815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A8D3-D1CA-9826-3865-D73E0030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4E6B-EAC9-CF30-D269-E3553D45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73305-D571-8565-AD1A-4ED03301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6331-8B9C-F2D5-B60C-F07F0D62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52CD5-721E-2FD7-7703-03B733230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61AA-6C6E-C8FC-21C4-64775A801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097A-1038-F23B-7D02-71DF7577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7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73305-D571-8565-AD1A-4ED03301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6331-8B9C-F2D5-B60C-F07F0D62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52CD5-721E-2FD7-7703-03B733230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8D3D7-3630-4BFC-9699-99A87242E95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61AA-6C6E-C8FC-21C4-64775A801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097A-1038-F23B-7D02-71DF7577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7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CC661-AB75-47AB-B1BB-7D8C376E44E0}"/>
              </a:ext>
            </a:extLst>
          </p:cNvPr>
          <p:cNvSpPr/>
          <p:nvPr/>
        </p:nvSpPr>
        <p:spPr>
          <a:xfrm>
            <a:off x="4203277" y="3727851"/>
            <a:ext cx="3760037" cy="95879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1" name="S501"/>
          <p:cNvSpPr/>
          <p:nvPr/>
        </p:nvSpPr>
        <p:spPr>
          <a:xfrm>
            <a:off x="5143500" y="101600"/>
            <a:ext cx="1905000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Input Image (1920×1080)</a:t>
            </a:r>
          </a:p>
        </p:txBody>
      </p:sp>
      <p:cxnSp>
        <p:nvCxnSpPr>
          <p:cNvPr id="502" name="C502"/>
          <p:cNvCxnSpPr/>
          <p:nvPr/>
        </p:nvCxnSpPr>
        <p:spPr>
          <a:xfrm>
            <a:off x="6096000" y="508000"/>
            <a:ext cx="6350" cy="1270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03" name="S503"/>
          <p:cNvSpPr/>
          <p:nvPr/>
        </p:nvSpPr>
        <p:spPr>
          <a:xfrm>
            <a:off x="4318000" y="635000"/>
            <a:ext cx="3556000" cy="609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RF-DETR DINOv2 ViT-S/16 Backbone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4 → P3 [384,36,36] + Self-Attention Map</a:t>
            </a:r>
          </a:p>
        </p:txBody>
      </p:sp>
      <p:sp>
        <p:nvSpPr>
          <p:cNvPr id="505" name="S505"/>
          <p:cNvSpPr/>
          <p:nvPr/>
        </p:nvSpPr>
        <p:spPr>
          <a:xfrm>
            <a:off x="4191001" y="1582013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Branch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stride-8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[256,72,72]</a:t>
            </a:r>
          </a:p>
        </p:txBody>
      </p:sp>
      <p:sp>
        <p:nvSpPr>
          <p:cNvPr id="506" name="S506"/>
          <p:cNvSpPr/>
          <p:nvPr/>
        </p:nvSpPr>
        <p:spPr>
          <a:xfrm>
            <a:off x="6350000" y="1570228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Block 4 CLS</a:t>
            </a:r>
          </a:p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Attention Map</a:t>
            </a:r>
            <a:endParaRPr lang="en-US" sz="900" dirty="0">
              <a:solidFill>
                <a:srgbClr val="555555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[1,72,72]</a:t>
            </a:r>
          </a:p>
        </p:txBody>
      </p:sp>
      <p:sp>
        <p:nvSpPr>
          <p:cNvPr id="509" name="S509"/>
          <p:cNvSpPr/>
          <p:nvPr/>
        </p:nvSpPr>
        <p:spPr>
          <a:xfrm>
            <a:off x="5080000" y="2563063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Small Object Heatmap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Eq.(1)  [1,72,72]</a:t>
            </a:r>
          </a:p>
        </p:txBody>
      </p:sp>
      <p:cxnSp>
        <p:nvCxnSpPr>
          <p:cNvPr id="512" name="C512"/>
          <p:cNvCxnSpPr>
            <a:cxnSpLocks/>
            <a:stCxn id="509" idx="2"/>
            <a:endCxn id="513" idx="0"/>
          </p:cNvCxnSpPr>
          <p:nvPr/>
        </p:nvCxnSpPr>
        <p:spPr>
          <a:xfrm>
            <a:off x="6096000" y="3096463"/>
            <a:ext cx="0" cy="143764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3" name="S513"/>
          <p:cNvSpPr/>
          <p:nvPr/>
        </p:nvSpPr>
        <p:spPr>
          <a:xfrm>
            <a:off x="4912242" y="3240227"/>
            <a:ext cx="2367516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Top-K Selection  Top 25% Tokens</a:t>
            </a:r>
          </a:p>
        </p:txBody>
      </p:sp>
      <p:cxnSp>
        <p:nvCxnSpPr>
          <p:cNvPr id="514" name="C514"/>
          <p:cNvCxnSpPr>
            <a:cxnSpLocks/>
            <a:stCxn id="513" idx="2"/>
            <a:endCxn id="515" idx="0"/>
          </p:cNvCxnSpPr>
          <p:nvPr/>
        </p:nvCxnSpPr>
        <p:spPr>
          <a:xfrm>
            <a:off x="6096000" y="3646627"/>
            <a:ext cx="0" cy="1778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5" name="S515"/>
          <p:cNvSpPr/>
          <p:nvPr/>
        </p:nvSpPr>
        <p:spPr>
          <a:xfrm>
            <a:off x="4318000" y="3824427"/>
            <a:ext cx="3556000" cy="787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[SCA] Cross-Attention  Eq.(4),(5)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Q = All ViT Tokens 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K,V = Top-K CNN Tokens (+2D Sin PE)</a:t>
            </a:r>
          </a:p>
          <a:p>
            <a:pPr algn="ctr">
              <a:lnSpc>
                <a:spcPts val="1200"/>
              </a:lnSpc>
            </a:pPr>
            <a:r>
              <a:rPr lang="en-US" altLang="ko-KR" sz="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P3' = P3 + </a:t>
            </a:r>
            <a:r>
              <a:rPr lang="en-US" altLang="ko-KR" sz="9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α </a:t>
            </a:r>
            <a:r>
              <a:rPr lang="en-US" altLang="ko-KR" sz="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_gate · CA(Q,K,V) (a = 0.01 </a:t>
            </a:r>
            <a:r>
              <a:rPr lang="en-US" altLang="ko-KR" sz="9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altLang="ko-KR" sz="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900" b="1" dirty="0"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516" name="C516"/>
          <p:cNvCxnSpPr>
            <a:cxnSpLocks/>
            <a:endCxn id="517" idx="0"/>
          </p:cNvCxnSpPr>
          <p:nvPr/>
        </p:nvCxnSpPr>
        <p:spPr>
          <a:xfrm>
            <a:off x="6096000" y="4611827"/>
            <a:ext cx="0" cy="203505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7" name="S517"/>
          <p:cNvSpPr/>
          <p:nvPr/>
        </p:nvSpPr>
        <p:spPr>
          <a:xfrm>
            <a:off x="4508500" y="4815332"/>
            <a:ext cx="3175000" cy="482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NAS Projector → NAS Decoder (unchanged)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cs typeface="Arial" pitchFamily="34" charset="0"/>
              </a:rPr>
              <a:t>→ Detection Output</a:t>
            </a:r>
          </a:p>
        </p:txBody>
      </p:sp>
      <p:cxnSp>
        <p:nvCxnSpPr>
          <p:cNvPr id="519" name="C519"/>
          <p:cNvCxnSpPr>
            <a:cxnSpLocks/>
            <a:stCxn id="517" idx="2"/>
            <a:endCxn id="520" idx="0"/>
          </p:cNvCxnSpPr>
          <p:nvPr/>
        </p:nvCxnSpPr>
        <p:spPr>
          <a:xfrm>
            <a:off x="6096000" y="5297932"/>
            <a:ext cx="0" cy="192024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20" name="S520"/>
          <p:cNvSpPr/>
          <p:nvPr/>
        </p:nvSpPr>
        <p:spPr>
          <a:xfrm>
            <a:off x="4445000" y="5489956"/>
            <a:ext cx="3302000" cy="584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[NWD] Hungarian Matching  Eq.(6),(10)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C_SAW = Focal + L1 + (1−NWD)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NWD: Eq.(7),(8),(9)</a:t>
            </a:r>
          </a:p>
        </p:txBody>
      </p:sp>
      <p:cxnSp>
        <p:nvCxnSpPr>
          <p:cNvPr id="522" name="C522"/>
          <p:cNvCxnSpPr>
            <a:cxnSpLocks/>
            <a:stCxn id="520" idx="2"/>
            <a:endCxn id="523" idx="0"/>
          </p:cNvCxnSpPr>
          <p:nvPr/>
        </p:nvCxnSpPr>
        <p:spPr>
          <a:xfrm>
            <a:off x="6096000" y="6074156"/>
            <a:ext cx="0" cy="1651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23" name="S523"/>
          <p:cNvSpPr/>
          <p:nvPr/>
        </p:nvSpPr>
        <p:spPr>
          <a:xfrm>
            <a:off x="4445000" y="6239256"/>
            <a:ext cx="3302000" cy="4826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875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Auxiliary Supervision  Eq.(2),(3)</a:t>
            </a:r>
          </a:p>
          <a:p>
            <a:pPr algn="ctr">
              <a:lnSpc>
                <a:spcPts val="1200"/>
              </a:lnSpc>
            </a:pPr>
            <a:r>
              <a:rPr lang="fr-FR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L_aux = Focal Loss Eq.(2),(3)</a:t>
            </a:r>
            <a:endParaRPr lang="en-US" sz="1000" dirty="0"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A78719A-54F4-12D4-AF50-8EB9B9571A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83225" y="1859714"/>
            <a:ext cx="346050" cy="1079499"/>
          </a:xfrm>
          <a:prstGeom prst="bentConnector3">
            <a:avLst>
              <a:gd name="adj1" fmla="val 45770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D529D6B-F3E1-4F12-ACFA-9580A3D1ECDA}"/>
              </a:ext>
            </a:extLst>
          </p:cNvPr>
          <p:cNvCxnSpPr>
            <a:stCxn id="506" idx="2"/>
            <a:endCxn id="509" idx="0"/>
          </p:cNvCxnSpPr>
          <p:nvPr/>
        </p:nvCxnSpPr>
        <p:spPr>
          <a:xfrm rot="5400000">
            <a:off x="6456833" y="1844395"/>
            <a:ext cx="357835" cy="1079500"/>
          </a:xfrm>
          <a:prstGeom prst="bentConnector3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EB305AA-7DC6-0078-01C3-964336EF8B69}"/>
              </a:ext>
            </a:extLst>
          </p:cNvPr>
          <p:cNvCxnSpPr>
            <a:stCxn id="503" idx="2"/>
            <a:endCxn id="506" idx="0"/>
          </p:cNvCxnSpPr>
          <p:nvPr/>
        </p:nvCxnSpPr>
        <p:spPr>
          <a:xfrm rot="16200000" flipH="1">
            <a:off x="6472936" y="867664"/>
            <a:ext cx="325628" cy="1079500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083F274-DBAF-0A52-8CEA-DAF1025E0D5E}"/>
              </a:ext>
            </a:extLst>
          </p:cNvPr>
          <p:cNvCxnSpPr>
            <a:stCxn id="503" idx="2"/>
            <a:endCxn id="505" idx="0"/>
          </p:cNvCxnSpPr>
          <p:nvPr/>
        </p:nvCxnSpPr>
        <p:spPr>
          <a:xfrm rot="5400000">
            <a:off x="5387545" y="873557"/>
            <a:ext cx="337413" cy="1079499"/>
          </a:xfrm>
          <a:prstGeom prst="bentConnector3">
            <a:avLst>
              <a:gd name="adj1" fmla="val 47832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B19022A-2DFB-4691-85FB-2EB974F30113}"/>
              </a:ext>
            </a:extLst>
          </p:cNvPr>
          <p:cNvCxnSpPr>
            <a:stCxn id="503" idx="3"/>
            <a:endCxn id="517" idx="3"/>
          </p:cNvCxnSpPr>
          <p:nvPr/>
        </p:nvCxnSpPr>
        <p:spPr>
          <a:xfrm flipH="1">
            <a:off x="7683500" y="939800"/>
            <a:ext cx="190500" cy="4116832"/>
          </a:xfrm>
          <a:prstGeom prst="bentConnector3">
            <a:avLst>
              <a:gd name="adj1" fmla="val -243711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65D566-A099-465A-8CBF-7EBDE0A38118}"/>
              </a:ext>
            </a:extLst>
          </p:cNvPr>
          <p:cNvSpPr txBox="1"/>
          <p:nvPr/>
        </p:nvSpPr>
        <p:spPr>
          <a:xfrm rot="5400000">
            <a:off x="7496672" y="2882422"/>
            <a:ext cx="1834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6,9,12 → P4, P5 (unchanged)</a:t>
            </a:r>
          </a:p>
          <a:p>
            <a:endParaRPr lang="ko-KR" alt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56F44-97A5-4DE6-8B58-D1B4BD976386}"/>
              </a:ext>
            </a:extLst>
          </p:cNvPr>
          <p:cNvSpPr txBox="1"/>
          <p:nvPr/>
        </p:nvSpPr>
        <p:spPr>
          <a:xfrm>
            <a:off x="7577121" y="4706597"/>
            <a:ext cx="847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</a:p>
          <a:p>
            <a:pPr algn="ct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supervision</a:t>
            </a:r>
            <a:endParaRPr lang="ko-KR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6DA66D99-8957-4352-B040-9C42EB106F2F}"/>
              </a:ext>
            </a:extLst>
          </p:cNvPr>
          <p:cNvCxnSpPr>
            <a:cxnSpLocks/>
            <a:stCxn id="505" idx="1"/>
            <a:endCxn id="515" idx="1"/>
          </p:cNvCxnSpPr>
          <p:nvPr/>
        </p:nvCxnSpPr>
        <p:spPr>
          <a:xfrm rot="10800000" flipH="1" flipV="1">
            <a:off x="4191000" y="1899513"/>
            <a:ext cx="126999" cy="2318614"/>
          </a:xfrm>
          <a:prstGeom prst="bentConnector3">
            <a:avLst>
              <a:gd name="adj1" fmla="val -180001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43C6C3-35B4-4829-8D47-35DBF0097117}"/>
              </a:ext>
            </a:extLst>
          </p:cNvPr>
          <p:cNvSpPr txBox="1"/>
          <p:nvPr/>
        </p:nvSpPr>
        <p:spPr>
          <a:xfrm>
            <a:off x="3671279" y="3051699"/>
            <a:ext cx="458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  <a:endParaRPr lang="ko-KR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77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601"/>
          <p:cNvSpPr/>
          <p:nvPr/>
        </p:nvSpPr>
        <p:spPr>
          <a:xfrm>
            <a:off x="5143500" y="101600"/>
            <a:ext cx="1905000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Input Image [3,576,576]</a:t>
            </a:r>
          </a:p>
        </p:txBody>
      </p:sp>
      <p:sp>
        <p:nvSpPr>
          <p:cNvPr id="603" name="S603"/>
          <p:cNvSpPr/>
          <p:nvPr/>
        </p:nvSpPr>
        <p:spPr>
          <a:xfrm>
            <a:off x="4064000" y="806450"/>
            <a:ext cx="1841500" cy="787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Branch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Conv3x3 s2 ×3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Conv3x3 s1 ×1</a:t>
            </a:r>
          </a:p>
          <a:p>
            <a:pPr algn="ctr">
              <a:lnSpc>
                <a:spcPts val="1100"/>
              </a:lnSpc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GroupNorm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 +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ReLU</a:t>
            </a:r>
            <a:endParaRPr lang="en-US" sz="1000" dirty="0">
              <a:solidFill>
                <a:srgbClr val="555555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4" name="S604"/>
          <p:cNvSpPr/>
          <p:nvPr/>
        </p:nvSpPr>
        <p:spPr>
          <a:xfrm>
            <a:off x="6291836" y="819607"/>
            <a:ext cx="1841500" cy="7874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9050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DINOv2 ViT-S/16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4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Self-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Attentionn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 Map</a:t>
            </a:r>
          </a:p>
        </p:txBody>
      </p:sp>
      <p:sp>
        <p:nvSpPr>
          <p:cNvPr id="607" name="S607"/>
          <p:cNvSpPr/>
          <p:nvPr/>
        </p:nvSpPr>
        <p:spPr>
          <a:xfrm>
            <a:off x="4130219" y="1767694"/>
            <a:ext cx="1715164" cy="457377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feature map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[Batch Size,256,72,72]</a:t>
            </a:r>
          </a:p>
        </p:txBody>
      </p:sp>
      <p:sp>
        <p:nvSpPr>
          <p:cNvPr id="609" name="S609"/>
          <p:cNvSpPr/>
          <p:nvPr/>
        </p:nvSpPr>
        <p:spPr>
          <a:xfrm>
            <a:off x="6355004" y="1783716"/>
            <a:ext cx="1715164" cy="457377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Block 4 CLS attention map [Batch Size,1,72,72]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1000" b="1" dirty="0" err="1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upsampled</a:t>
            </a: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from 36x36)</a:t>
            </a:r>
          </a:p>
        </p:txBody>
      </p:sp>
      <p:sp>
        <p:nvSpPr>
          <p:cNvPr id="611" name="S611"/>
          <p:cNvSpPr/>
          <p:nvPr/>
        </p:nvSpPr>
        <p:spPr>
          <a:xfrm>
            <a:off x="5025362" y="2678836"/>
            <a:ext cx="2141275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latin typeface="Arial" panose="020B0604020202020204" pitchFamily="34" charset="0"/>
                <a:cs typeface="Arial" pitchFamily="34" charset="0"/>
              </a:rPr>
              <a:t>Conv1x1 + Sigmoid</a:t>
            </a:r>
            <a:r>
              <a:rPr lang="en-US" altLang="ko-KR" sz="11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5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← Eq.(1)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[257,72,72]</a:t>
            </a:r>
            <a:r>
              <a:rPr lang="en-US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[1,72,72]</a:t>
            </a:r>
            <a:endParaRPr lang="en-US" sz="1000" b="1" dirty="0"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614" name="C614"/>
          <p:cNvCxnSpPr>
            <a:cxnSpLocks/>
            <a:stCxn id="611" idx="2"/>
            <a:endCxn id="615" idx="0"/>
          </p:cNvCxnSpPr>
          <p:nvPr/>
        </p:nvCxnSpPr>
        <p:spPr>
          <a:xfrm>
            <a:off x="6096000" y="3085236"/>
            <a:ext cx="3349" cy="171349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615" name="S615"/>
          <p:cNvSpPr/>
          <p:nvPr/>
        </p:nvSpPr>
        <p:spPr>
          <a:xfrm>
            <a:off x="4898571" y="3256585"/>
            <a:ext cx="2401555" cy="3810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latin typeface="Arial" pitchFamily="34" charset="0"/>
                <a:cs typeface="Arial" pitchFamily="34" charset="0"/>
              </a:rPr>
              <a:t>Small Object Heatmap</a:t>
            </a:r>
          </a:p>
          <a:p>
            <a:pPr algn="ctr">
              <a:lnSpc>
                <a:spcPts val="1100"/>
              </a:lnSpc>
            </a:pPr>
            <a:r>
              <a:rPr lang="en-US" sz="1100" dirty="0">
                <a:latin typeface="Arial" pitchFamily="34" charset="0"/>
                <a:cs typeface="Arial" pitchFamily="34" charset="0"/>
              </a:rPr>
              <a:t> [B,1,72,72]</a:t>
            </a:r>
            <a:r>
              <a:rPr lang="en-US" altLang="ko-KR" sz="11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(0.0 ~ 1.0 per position)</a:t>
            </a:r>
            <a:endParaRPr lang="en-US" sz="11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16" name="S616"/>
          <p:cNvSpPr/>
          <p:nvPr/>
        </p:nvSpPr>
        <p:spPr>
          <a:xfrm>
            <a:off x="4572000" y="3942893"/>
            <a:ext cx="1333500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Top-K (25%)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1,296 of 5,184 positions</a:t>
            </a:r>
          </a:p>
        </p:txBody>
      </p:sp>
      <p:sp>
        <p:nvSpPr>
          <p:cNvPr id="618" name="S618"/>
          <p:cNvSpPr/>
          <p:nvPr/>
        </p:nvSpPr>
        <p:spPr>
          <a:xfrm>
            <a:off x="6286499" y="3947008"/>
            <a:ext cx="1616529" cy="5334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Focal Loss 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← Eq.(2),(3)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cs typeface="Arial" pitchFamily="34" charset="0"/>
              </a:rPr>
              <a:t>(training only)</a:t>
            </a:r>
          </a:p>
        </p:txBody>
      </p:sp>
      <p:sp>
        <p:nvSpPr>
          <p:cNvPr id="620" name="S620"/>
          <p:cNvSpPr/>
          <p:nvPr/>
        </p:nvSpPr>
        <p:spPr>
          <a:xfrm>
            <a:off x="4205236" y="5073194"/>
            <a:ext cx="3928100" cy="9906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endParaRPr lang="en-US" sz="1200" b="1" dirty="0">
              <a:solidFill>
                <a:srgbClr val="37415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22" name="C622"/>
          <p:cNvCxnSpPr>
            <a:cxnSpLocks/>
            <a:endCxn id="623" idx="0"/>
          </p:cNvCxnSpPr>
          <p:nvPr/>
        </p:nvCxnSpPr>
        <p:spPr>
          <a:xfrm>
            <a:off x="6081861" y="6063794"/>
            <a:ext cx="3142" cy="224485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623" name="S623"/>
          <p:cNvSpPr/>
          <p:nvPr/>
        </p:nvSpPr>
        <p:spPr>
          <a:xfrm>
            <a:off x="4562574" y="6288279"/>
            <a:ext cx="3044858" cy="482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P3’ = P3 + α_gate · CA(Q,K,V)  ← Eq.(5)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(α_gate = 0.01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init</a:t>
            </a:r>
            <a:r>
              <a:rPr lang="pl-PL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</a:t>
            </a:r>
            <a:r>
              <a:rPr lang="en-US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~0.15 after training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C7537F9-24A2-231C-9135-352AD02BBDAD}"/>
              </a:ext>
            </a:extLst>
          </p:cNvPr>
          <p:cNvCxnSpPr>
            <a:cxnSpLocks/>
            <a:stCxn id="615" idx="2"/>
            <a:endCxn id="616" idx="0"/>
          </p:cNvCxnSpPr>
          <p:nvPr/>
        </p:nvCxnSpPr>
        <p:spPr>
          <a:xfrm rot="5400000">
            <a:off x="5516396" y="3359940"/>
            <a:ext cx="305308" cy="860599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B3DA5B1-575F-5D64-7082-017E39E010E3}"/>
              </a:ext>
            </a:extLst>
          </p:cNvPr>
          <p:cNvCxnSpPr>
            <a:cxnSpLocks/>
            <a:stCxn id="615" idx="2"/>
            <a:endCxn id="618" idx="0"/>
          </p:cNvCxnSpPr>
          <p:nvPr/>
        </p:nvCxnSpPr>
        <p:spPr>
          <a:xfrm rot="16200000" flipH="1">
            <a:off x="6442345" y="3294588"/>
            <a:ext cx="309423" cy="995415"/>
          </a:xfrm>
          <a:prstGeom prst="bentConnector3">
            <a:avLst/>
          </a:prstGeom>
          <a:ln>
            <a:solidFill>
              <a:srgbClr val="9CA3A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545516E-D409-C693-1667-1AD724E60C74}"/>
              </a:ext>
            </a:extLst>
          </p:cNvPr>
          <p:cNvCxnSpPr>
            <a:cxnSpLocks/>
            <a:stCxn id="607" idx="2"/>
            <a:endCxn id="611" idx="0"/>
          </p:cNvCxnSpPr>
          <p:nvPr/>
        </p:nvCxnSpPr>
        <p:spPr>
          <a:xfrm rot="16200000" flipH="1">
            <a:off x="5315018" y="1897853"/>
            <a:ext cx="453765" cy="1108199"/>
          </a:xfrm>
          <a:prstGeom prst="bentConnector3">
            <a:avLst/>
          </a:prstGeom>
          <a:ln>
            <a:solidFill>
              <a:srgbClr val="93C5F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2B34C71-FED1-8F45-C5A6-F44ADAB5A05C}"/>
              </a:ext>
            </a:extLst>
          </p:cNvPr>
          <p:cNvCxnSpPr>
            <a:cxnSpLocks/>
            <a:stCxn id="609" idx="2"/>
            <a:endCxn id="611" idx="0"/>
          </p:cNvCxnSpPr>
          <p:nvPr/>
        </p:nvCxnSpPr>
        <p:spPr>
          <a:xfrm rot="5400000">
            <a:off x="6435422" y="1901671"/>
            <a:ext cx="437743" cy="1116586"/>
          </a:xfrm>
          <a:prstGeom prst="bentConnector3">
            <a:avLst/>
          </a:prstGeom>
          <a:ln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36F97B-D171-B290-02D9-46E1982FB108}"/>
              </a:ext>
            </a:extLst>
          </p:cNvPr>
          <p:cNvCxnSpPr>
            <a:stCxn id="601" idx="2"/>
            <a:endCxn id="604" idx="0"/>
          </p:cNvCxnSpPr>
          <p:nvPr/>
        </p:nvCxnSpPr>
        <p:spPr>
          <a:xfrm rot="16200000" flipH="1">
            <a:off x="6498490" y="105510"/>
            <a:ext cx="311607" cy="1116586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23FE9BF-2E3F-A6B8-100A-C0EF1F4F6C69}"/>
              </a:ext>
            </a:extLst>
          </p:cNvPr>
          <p:cNvCxnSpPr>
            <a:stCxn id="601" idx="2"/>
            <a:endCxn id="603" idx="0"/>
          </p:cNvCxnSpPr>
          <p:nvPr/>
        </p:nvCxnSpPr>
        <p:spPr>
          <a:xfrm rot="5400000">
            <a:off x="5391150" y="101600"/>
            <a:ext cx="298450" cy="1111250"/>
          </a:xfrm>
          <a:prstGeom prst="bentConnector3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2CF0AB4-958C-1E2D-6039-A94CA1491422}"/>
              </a:ext>
            </a:extLst>
          </p:cNvPr>
          <p:cNvCxnSpPr>
            <a:cxnSpLocks/>
            <a:stCxn id="603" idx="2"/>
            <a:endCxn id="607" idx="0"/>
          </p:cNvCxnSpPr>
          <p:nvPr/>
        </p:nvCxnSpPr>
        <p:spPr>
          <a:xfrm rot="16200000" flipH="1">
            <a:off x="4899353" y="1679246"/>
            <a:ext cx="173844" cy="3051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7F81AE-AADA-F546-D1A9-A6402A4A6317}"/>
              </a:ext>
            </a:extLst>
          </p:cNvPr>
          <p:cNvCxnSpPr>
            <a:cxnSpLocks/>
            <a:stCxn id="604" idx="2"/>
            <a:endCxn id="609" idx="0"/>
          </p:cNvCxnSpPr>
          <p:nvPr/>
        </p:nvCxnSpPr>
        <p:spPr>
          <a:xfrm>
            <a:off x="7212586" y="1607007"/>
            <a:ext cx="0" cy="176709"/>
          </a:xfrm>
          <a:prstGeom prst="straightConnector1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S616">
            <a:extLst>
              <a:ext uri="{FF2B5EF4-FFF2-40B4-BE49-F238E27FC236}">
                <a16:creationId xmlns:a16="http://schemas.microsoft.com/office/drawing/2014/main" id="{2DB735B0-350A-454C-8B8D-9039BB163FE4}"/>
              </a:ext>
            </a:extLst>
          </p:cNvPr>
          <p:cNvSpPr/>
          <p:nvPr/>
        </p:nvSpPr>
        <p:spPr>
          <a:xfrm>
            <a:off x="4402224" y="4501695"/>
            <a:ext cx="1673051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Selected CNN tokens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[1296,256]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288FFB8-55B0-47E1-A545-FA19A72116F0}"/>
              </a:ext>
            </a:extLst>
          </p:cNvPr>
          <p:cNvCxnSpPr>
            <a:cxnSpLocks/>
            <a:stCxn id="616" idx="2"/>
            <a:endCxn id="68" idx="0"/>
          </p:cNvCxnSpPr>
          <p:nvPr/>
        </p:nvCxnSpPr>
        <p:spPr>
          <a:xfrm>
            <a:off x="5238750" y="4323893"/>
            <a:ext cx="0" cy="177802"/>
          </a:xfrm>
          <a:prstGeom prst="straightConnector1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6904DDE1-1DC1-4E07-80C3-F8A24752CAC4}"/>
              </a:ext>
            </a:extLst>
          </p:cNvPr>
          <p:cNvCxnSpPr>
            <a:cxnSpLocks/>
            <a:stCxn id="607" idx="1"/>
            <a:endCxn id="620" idx="1"/>
          </p:cNvCxnSpPr>
          <p:nvPr/>
        </p:nvCxnSpPr>
        <p:spPr>
          <a:xfrm rot="10800000" flipH="1" flipV="1">
            <a:off x="4130218" y="1996382"/>
            <a:ext cx="75017" cy="3572111"/>
          </a:xfrm>
          <a:prstGeom prst="bentConnector3">
            <a:avLst>
              <a:gd name="adj1" fmla="val -304731"/>
            </a:avLst>
          </a:prstGeom>
          <a:ln>
            <a:solidFill>
              <a:srgbClr val="9CA3A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8A0A91E-BAEC-4142-BDB4-F5188CBADFB4}"/>
              </a:ext>
            </a:extLst>
          </p:cNvPr>
          <p:cNvSpPr txBox="1"/>
          <p:nvPr/>
        </p:nvSpPr>
        <p:spPr>
          <a:xfrm>
            <a:off x="3568384" y="3732963"/>
            <a:ext cx="361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A70B91-33D7-4E3D-A55B-25B8992391D3}"/>
              </a:ext>
            </a:extLst>
          </p:cNvPr>
          <p:cNvSpPr txBox="1"/>
          <p:nvPr/>
        </p:nvSpPr>
        <p:spPr>
          <a:xfrm>
            <a:off x="4203600" y="5060037"/>
            <a:ext cx="18973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Cross-Attention  Eq.(4)</a:t>
            </a:r>
          </a:p>
          <a:p>
            <a:endParaRPr lang="ko-KR" altLang="en-US" sz="1100" dirty="0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7A7BF41-CDE3-44EF-89A9-2774678FF161}"/>
              </a:ext>
            </a:extLst>
          </p:cNvPr>
          <p:cNvCxnSpPr>
            <a:stCxn id="68" idx="2"/>
          </p:cNvCxnSpPr>
          <p:nvPr/>
        </p:nvCxnSpPr>
        <p:spPr>
          <a:xfrm flipH="1">
            <a:off x="5238749" y="4882695"/>
            <a:ext cx="1" cy="177342"/>
          </a:xfrm>
          <a:prstGeom prst="straightConnector1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S616">
            <a:extLst>
              <a:ext uri="{FF2B5EF4-FFF2-40B4-BE49-F238E27FC236}">
                <a16:creationId xmlns:a16="http://schemas.microsoft.com/office/drawing/2014/main" id="{4ED65A30-280D-4993-ABA4-F6D595EBEA71}"/>
              </a:ext>
            </a:extLst>
          </p:cNvPr>
          <p:cNvSpPr/>
          <p:nvPr/>
        </p:nvSpPr>
        <p:spPr>
          <a:xfrm>
            <a:off x="4402224" y="5324048"/>
            <a:ext cx="1700398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 err="1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Tquery</a:t>
            </a: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: P3 </a:t>
            </a:r>
            <a:r>
              <a:rPr lang="en-US" sz="1100" b="1" dirty="0" err="1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ViT</a:t>
            </a: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tokens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[1296, 384] + 2D Sin PE</a:t>
            </a:r>
          </a:p>
        </p:txBody>
      </p:sp>
      <p:sp>
        <p:nvSpPr>
          <p:cNvPr id="86" name="S616">
            <a:extLst>
              <a:ext uri="{FF2B5EF4-FFF2-40B4-BE49-F238E27FC236}">
                <a16:creationId xmlns:a16="http://schemas.microsoft.com/office/drawing/2014/main" id="{F470A0C5-119F-4EA7-AC8B-FC636D0FCE47}"/>
              </a:ext>
            </a:extLst>
          </p:cNvPr>
          <p:cNvSpPr/>
          <p:nvPr/>
        </p:nvSpPr>
        <p:spPr>
          <a:xfrm>
            <a:off x="6230158" y="5309979"/>
            <a:ext cx="1700398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Key, Value: CNN tokens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latin typeface="Arial" panose="020B0604020202020204" pitchFamily="34" charset="0"/>
                <a:cs typeface="Arial" pitchFamily="34" charset="0"/>
              </a:rPr>
              <a:t>[1296,256</a:t>
            </a:r>
            <a:r>
              <a:rPr lang="en-US" altLang="ko-KR" sz="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→384] + 2D Sin PE</a:t>
            </a:r>
            <a:endParaRPr lang="en-US" sz="9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B185B5-427C-4E80-AC6F-2ABB50802332}"/>
              </a:ext>
            </a:extLst>
          </p:cNvPr>
          <p:cNvSpPr txBox="1"/>
          <p:nvPr/>
        </p:nvSpPr>
        <p:spPr>
          <a:xfrm>
            <a:off x="4730269" y="5791708"/>
            <a:ext cx="274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ko-KR" sz="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W_Q: 384→d_k, W_K: 256→d_k, W_V: 256→d_v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AA7B70C-1A9F-49E1-ABEF-61672D4C07D2}"/>
              </a:ext>
            </a:extLst>
          </p:cNvPr>
          <p:cNvSpPr txBox="1"/>
          <p:nvPr/>
        </p:nvSpPr>
        <p:spPr>
          <a:xfrm>
            <a:off x="5232640" y="2428502"/>
            <a:ext cx="612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90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D6267C-9C74-46E3-A7A1-357E91B2F0AC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e7e52842-9926-4d08-99af-5803f0a606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389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Office Theme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강민 이</dc:creator>
  <cp:lastModifiedBy>강민 이</cp:lastModifiedBy>
  <cp:revision>482</cp:revision>
  <dcterms:created xsi:type="dcterms:W3CDTF">2026-03-17T13:17:50Z</dcterms:created>
  <dcterms:modified xsi:type="dcterms:W3CDTF">2026-05-03T14:18:07Z</dcterms:modified>
</cp:coreProperties>
</file>